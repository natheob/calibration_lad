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6" r:id="rId10"/>
    <p:sldId id="263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auchamp Nathéo" userId="2f6be8a7-a18b-4f14-b78c-0e448d0764bd" providerId="ADAL" clId="{3223481B-8987-4DE8-8F27-6B51975E0FA6}"/>
    <pc:docChg chg="delSld">
      <pc:chgData name="Beauchamp Nathéo" userId="2f6be8a7-a18b-4f14-b78c-0e448d0764bd" providerId="ADAL" clId="{3223481B-8987-4DE8-8F27-6B51975E0FA6}" dt="2025-10-13T15:21:59.856" v="0" actId="47"/>
      <pc:docMkLst>
        <pc:docMk/>
      </pc:docMkLst>
      <pc:sldChg chg="del">
        <pc:chgData name="Beauchamp Nathéo" userId="2f6be8a7-a18b-4f14-b78c-0e448d0764bd" providerId="ADAL" clId="{3223481B-8987-4DE8-8F27-6B51975E0FA6}" dt="2025-10-13T15:21:59.856" v="0" actId="47"/>
        <pc:sldMkLst>
          <pc:docMk/>
          <pc:sldMk cId="418629442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1F8C50-7B7A-A713-1507-426B0B4BC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FEA3E0B-FA4A-344E-C3D3-8578B1535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EA6A7F-FC6C-802F-02BF-ED3828D35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C6A1-5BB3-494B-BFCA-3B0A13C3A105}" type="datetimeFigureOut">
              <a:rPr lang="fr-BE" smtClean="0"/>
              <a:t>13-10-25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F983B1-07BE-F756-D1AF-4484B9C0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742A1B-AA69-3CC5-625E-F524D41C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77190-69D4-4C75-BE7A-4CD39E489C2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87786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8CBB8E-9FFF-E2F7-22DD-BAD8DA0CF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38DB0E-FF42-A0D7-7BBE-A6D7A3132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E080B2-6EBA-C4A0-AFFE-900135451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C6A1-5BB3-494B-BFCA-3B0A13C3A105}" type="datetimeFigureOut">
              <a:rPr lang="fr-BE" smtClean="0"/>
              <a:t>13-10-25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BC5D01-1F06-29D9-6D94-2A3EA564E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CEB4A3-6355-B6FB-A6DF-4F939B4F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77190-69D4-4C75-BE7A-4CD39E489C2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4386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3FEAD-6DC3-8D4D-B7DD-93040B0AA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0B30E0-24B7-C2AB-1979-3D023653D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4F3C70-0594-78E2-9E84-967A7EC35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C6A1-5BB3-494B-BFCA-3B0A13C3A105}" type="datetimeFigureOut">
              <a:rPr lang="fr-BE" smtClean="0"/>
              <a:t>13-10-25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EB4A26-CF1F-B848-18E5-0438F962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CFDE28-D397-E0FC-1A19-188A9B54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77190-69D4-4C75-BE7A-4CD39E489C2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3287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3E7DFF-DE52-AC18-318D-2B81E4609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D14E0B-94BF-C289-8F45-CB22A1397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7DF49E-0303-BC0C-B90E-B233650B3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587299-9A13-0E2C-311A-55B752E9F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C6A1-5BB3-494B-BFCA-3B0A13C3A105}" type="datetimeFigureOut">
              <a:rPr lang="fr-BE" smtClean="0"/>
              <a:t>13-10-25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1C61C05-FD00-A42B-8E9F-7A91EEE7E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0D324E-FCEA-1EB8-38DE-B13886BE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77190-69D4-4C75-BE7A-4CD39E489C2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46411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A57AFA-A962-5804-89F2-3141198F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D7542A-7B52-18D1-97D0-4581D3DDE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70BD70-2B38-216E-9AB3-49405A2FB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D262E13-720E-5A70-16DC-FC38DE9F6E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6982B7C-4F86-6A3F-A6E1-3E06874CE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A04D842-A348-10D2-E72D-C8AC8B7B4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C6A1-5BB3-494B-BFCA-3B0A13C3A105}" type="datetimeFigureOut">
              <a:rPr lang="fr-BE" smtClean="0"/>
              <a:t>13-10-25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CC9BDEC-0AA4-1BB3-6394-832B4783B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E38C8E9-321D-0084-77B7-EEFF9814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77190-69D4-4C75-BE7A-4CD39E489C2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06869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174AF7-EF27-EFFE-81CC-72CB657F4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9A9172D-F1D2-8634-336A-F0E82BFD7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C6A1-5BB3-494B-BFCA-3B0A13C3A105}" type="datetimeFigureOut">
              <a:rPr lang="fr-BE" smtClean="0"/>
              <a:t>13-10-25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011D855-5599-FFA5-E8EF-3A9D483CE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700AE0-4543-340B-B83F-C3A62D96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77190-69D4-4C75-BE7A-4CD39E489C2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32238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617DCE2-A12A-A765-4D65-14A42D75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C6A1-5BB3-494B-BFCA-3B0A13C3A105}" type="datetimeFigureOut">
              <a:rPr lang="fr-BE" smtClean="0"/>
              <a:t>13-10-25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FC17641-7133-868A-A5A4-CA43D23DD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87FBAE-24E5-3CCA-1BA8-8867EDDC9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77190-69D4-4C75-BE7A-4CD39E489C2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55388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D57979-9725-9311-9E15-D7A07041B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30CCA4-DB08-3E79-E0F3-0B67469A2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DD22EA-51EF-1CAA-BE90-76D6D2C55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424D03-9AEB-1C38-055D-8E4511001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C6A1-5BB3-494B-BFCA-3B0A13C3A105}" type="datetimeFigureOut">
              <a:rPr lang="fr-BE" smtClean="0"/>
              <a:t>13-10-25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1AD324-5DAE-D98C-4A09-3B3C29A2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C8708A-0F37-9F61-084A-CB5881E05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77190-69D4-4C75-BE7A-4CD39E489C2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15998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82F64B-FD95-D2A2-D832-FC596E57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20A4402-E34E-D2EE-F1DB-B00FE7C4BB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F070F1-BF77-A280-0E4D-D96B4B6B6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9EAC75F-8EBC-4C58-A5E5-AF8D55CED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C6A1-5BB3-494B-BFCA-3B0A13C3A105}" type="datetimeFigureOut">
              <a:rPr lang="fr-BE" smtClean="0"/>
              <a:t>13-10-25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FE007C-4AF6-37D5-8B08-AFA3A2D33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B69F4B-EBEB-3631-1F24-1701794C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77190-69D4-4C75-BE7A-4CD39E489C2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47334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8B1CB3-2C1A-16A6-F987-8B9185259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5E0C84-1766-8698-AF7D-1BC7E6AF1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459656-5664-CA6B-1AAE-873659B7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C6A1-5BB3-494B-BFCA-3B0A13C3A105}" type="datetimeFigureOut">
              <a:rPr lang="fr-BE" smtClean="0"/>
              <a:t>13-10-25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6CEB11-EC8D-AFAC-A182-BD76C25C5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14CE1A-156E-B74A-E3E2-62D40042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77190-69D4-4C75-BE7A-4CD39E489C2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3627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EEB9BAD-832A-B7F7-2358-3545927BB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1D3468-76D4-089E-52E6-5A395E34A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D7FC6C-7651-071C-3AB0-C306D2B9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C6A1-5BB3-494B-BFCA-3B0A13C3A105}" type="datetimeFigureOut">
              <a:rPr lang="fr-BE" smtClean="0"/>
              <a:t>13-10-25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3D4E9F-855E-5CB4-4621-F4717C75C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E49281-6E11-5642-7825-EE9FB8058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77190-69D4-4C75-BE7A-4CD39E489C2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3116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ECF819C-E5C4-0649-21D4-30ADFEF75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D0C0E9-0542-1229-23CF-735536E8D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64E461-5126-E95B-E580-DFBF879730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9C6A1-5BB3-494B-BFCA-3B0A13C3A105}" type="datetimeFigureOut">
              <a:rPr lang="fr-BE" smtClean="0"/>
              <a:t>13-10-25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E9CD67-2970-47CF-D367-0682B9B53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50AC81-4F39-4305-6C6C-582564FBB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77190-69D4-4C75-BE7A-4CD39E489C2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2000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B8C840-6F2A-7656-1664-BA943F981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96881"/>
            <a:ext cx="9144000" cy="2387600"/>
          </a:xfrm>
        </p:spPr>
        <p:txBody>
          <a:bodyPr/>
          <a:lstStyle/>
          <a:p>
            <a:r>
              <a:rPr lang="en-GB" noProof="0" dirty="0"/>
              <a:t>Calibration du </a:t>
            </a:r>
            <a:br>
              <a:rPr lang="en-GB" noProof="0" dirty="0"/>
            </a:br>
            <a:r>
              <a:rPr lang="en-GB" noProof="0" dirty="0"/>
              <a:t>leaf area density LAD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285769D-E120-ADF4-CF10-21F5F2B22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1378"/>
            <a:ext cx="9472551" cy="2596881"/>
          </a:xfrm>
        </p:spPr>
        <p:txBody>
          <a:bodyPr>
            <a:normAutofit fontScale="70000" lnSpcReduction="20000"/>
          </a:bodyPr>
          <a:lstStyle/>
          <a:p>
            <a:r>
              <a:rPr lang="en-GB" noProof="0" dirty="0"/>
              <a:t>Etude </a:t>
            </a:r>
            <a:r>
              <a:rPr lang="en-GB" noProof="0" dirty="0" err="1"/>
              <a:t>menée</a:t>
            </a:r>
            <a:r>
              <a:rPr lang="en-GB" noProof="0" dirty="0"/>
              <a:t> par </a:t>
            </a:r>
            <a:r>
              <a:rPr lang="en-GB" b="1" noProof="0" dirty="0"/>
              <a:t>Nathéo BEAUCHAMP </a:t>
            </a:r>
          </a:p>
          <a:p>
            <a:r>
              <a:rPr lang="en-GB" noProof="0" dirty="0"/>
              <a:t>et </a:t>
            </a:r>
            <a:r>
              <a:rPr lang="en-GB" noProof="0" dirty="0" err="1"/>
              <a:t>supervisée</a:t>
            </a:r>
            <a:r>
              <a:rPr lang="en-GB" noProof="0" dirty="0"/>
              <a:t> par </a:t>
            </a:r>
            <a:r>
              <a:rPr lang="en-GB" b="1" noProof="0" dirty="0"/>
              <a:t>Gauthier LIGOT </a:t>
            </a:r>
            <a:r>
              <a:rPr lang="en-GB" sz="2300" i="1" noProof="0" dirty="0"/>
              <a:t>(absent </a:t>
            </a:r>
            <a:r>
              <a:rPr lang="en-GB" sz="2300" i="1" noProof="0" dirty="0" err="1"/>
              <a:t>aujourd’hui</a:t>
            </a:r>
            <a:r>
              <a:rPr lang="en-GB" sz="2300" i="1" noProof="0" dirty="0"/>
              <a:t>)</a:t>
            </a:r>
            <a:endParaRPr lang="en-GB" sz="2300" b="1" i="1" noProof="0" dirty="0"/>
          </a:p>
          <a:p>
            <a:r>
              <a:rPr lang="en-GB" noProof="0" dirty="0"/>
              <a:t>(Université de Liège, </a:t>
            </a:r>
            <a:r>
              <a:rPr lang="en-GB" noProof="0" dirty="0" err="1"/>
              <a:t>AgroBio</a:t>
            </a:r>
            <a:r>
              <a:rPr lang="en-GB" noProof="0" dirty="0"/>
              <a:t> Tech Gembloux, Belgique)</a:t>
            </a:r>
          </a:p>
          <a:p>
            <a:endParaRPr lang="en-GB" noProof="0" dirty="0"/>
          </a:p>
          <a:p>
            <a:r>
              <a:rPr lang="en-GB" noProof="0" dirty="0"/>
              <a:t>Avec la collaboration de :</a:t>
            </a:r>
          </a:p>
          <a:p>
            <a:r>
              <a:rPr lang="en-GB" b="1" noProof="0" dirty="0"/>
              <a:t>Philippe BALANDIER </a:t>
            </a:r>
            <a:r>
              <a:rPr lang="en-GB" noProof="0" dirty="0"/>
              <a:t>(</a:t>
            </a:r>
            <a:r>
              <a:rPr lang="en-GB" noProof="0" dirty="0" err="1"/>
              <a:t>INRAe</a:t>
            </a:r>
            <a:r>
              <a:rPr lang="en-GB" noProof="0" dirty="0"/>
              <a:t> UMR PIAF, Clermont-Ferrand, France)</a:t>
            </a:r>
          </a:p>
          <a:p>
            <a:r>
              <a:rPr lang="en-GB" b="1" noProof="0" dirty="0"/>
              <a:t>Benoit COURBAUD </a:t>
            </a:r>
            <a:r>
              <a:rPr lang="en-GB" noProof="0" dirty="0"/>
              <a:t>(</a:t>
            </a:r>
            <a:r>
              <a:rPr lang="en-GB" noProof="0" dirty="0" err="1"/>
              <a:t>INRAe</a:t>
            </a:r>
            <a:r>
              <a:rPr lang="en-GB" noProof="0" dirty="0"/>
              <a:t> UR LESSEM, Grenoble, France)</a:t>
            </a:r>
          </a:p>
          <a:p>
            <a:r>
              <a:rPr lang="en-GB" b="1" noProof="0" dirty="0"/>
              <a:t>Mathieu JONARD </a:t>
            </a:r>
            <a:r>
              <a:rPr lang="en-GB" noProof="0" dirty="0"/>
              <a:t>(</a:t>
            </a:r>
            <a:r>
              <a:rPr lang="en-GB" noProof="0" dirty="0" err="1"/>
              <a:t>UCLouvain</a:t>
            </a:r>
            <a:r>
              <a:rPr lang="en-GB" noProof="0" dirty="0"/>
              <a:t>, Louvain-la-Neuve, Belgique)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BA3E15C-D4B3-DADA-19A2-930E971708F9}"/>
              </a:ext>
            </a:extLst>
          </p:cNvPr>
          <p:cNvSpPr txBox="1"/>
          <p:nvPr/>
        </p:nvSpPr>
        <p:spPr>
          <a:xfrm>
            <a:off x="2873829" y="5355772"/>
            <a:ext cx="8122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13 Octobre 2025, de 14h à 15h: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 err="1"/>
              <a:t>Présentation</a:t>
            </a:r>
            <a:r>
              <a:rPr lang="en-GB" dirty="0"/>
              <a:t> de </a:t>
            </a:r>
            <a:r>
              <a:rPr lang="en-GB" dirty="0" err="1"/>
              <a:t>l’étude</a:t>
            </a:r>
            <a:r>
              <a:rPr lang="en-GB" dirty="0"/>
              <a:t> et des premiers </a:t>
            </a:r>
            <a:r>
              <a:rPr lang="en-GB" dirty="0" err="1"/>
              <a:t>résultats</a:t>
            </a:r>
            <a:r>
              <a:rPr lang="en-GB" dirty="0"/>
              <a:t> (15mn)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Discussion entre nous (30mn)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 err="1"/>
              <a:t>Modalités</a:t>
            </a:r>
            <a:r>
              <a:rPr lang="en-GB" dirty="0"/>
              <a:t> de la collaboration (5mn)</a:t>
            </a:r>
          </a:p>
        </p:txBody>
      </p:sp>
    </p:spTree>
    <p:extLst>
      <p:ext uri="{BB962C8B-B14F-4D97-AF65-F5344CB8AC3E}">
        <p14:creationId xmlns:p14="http://schemas.microsoft.com/office/powerpoint/2010/main" val="3185843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85E43A-6B98-AFAF-445E-74DC982A7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Motivation of the study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92B926-45AF-04E2-3942-5B4D8EFDB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10" y="4038506"/>
            <a:ext cx="12160333" cy="1961223"/>
          </a:xfrm>
        </p:spPr>
        <p:txBody>
          <a:bodyPr>
            <a:normAutofit fontScale="92500" lnSpcReduction="10000"/>
          </a:bodyPr>
          <a:lstStyle/>
          <a:p>
            <a:r>
              <a:rPr lang="en-GB" sz="2400" noProof="0" dirty="0"/>
              <a:t>Important parameter for forest models</a:t>
            </a:r>
          </a:p>
          <a:p>
            <a:r>
              <a:rPr lang="en-GB" sz="2400" noProof="0" dirty="0"/>
              <a:t>Direct estimation through samples of leaves </a:t>
            </a:r>
            <a:r>
              <a:rPr lang="en-GB" sz="2000" noProof="0" dirty="0"/>
              <a:t>(Stadt &amp; Lieffers, 2000)</a:t>
            </a:r>
          </a:p>
          <a:p>
            <a:pPr marL="0" indent="0">
              <a:buNone/>
            </a:pPr>
            <a:r>
              <a:rPr lang="en-GB" sz="2000" noProof="0" dirty="0">
                <a:sym typeface="Wingdings" panose="05000000000000000000" pitchFamily="2" charset="2"/>
              </a:rPr>
              <a:t>	 Laborious and destructive</a:t>
            </a:r>
          </a:p>
          <a:p>
            <a:r>
              <a:rPr lang="en-GB" sz="2400" noProof="0" dirty="0"/>
              <a:t>Indirect methods using model inversion </a:t>
            </a:r>
            <a:r>
              <a:rPr lang="en-GB" sz="2000" noProof="0" dirty="0"/>
              <a:t>(Courbaud et al. 2003) </a:t>
            </a:r>
            <a:r>
              <a:rPr lang="en-GB" sz="2400" noProof="0" dirty="0"/>
              <a:t>or LiDAR </a:t>
            </a:r>
            <a:r>
              <a:rPr lang="en-GB" sz="2000" noProof="0" dirty="0"/>
              <a:t>(Wei et al. 2020)</a:t>
            </a:r>
          </a:p>
          <a:p>
            <a:pPr marL="0" indent="0">
              <a:buNone/>
            </a:pPr>
            <a:r>
              <a:rPr lang="en-GB" sz="2000" dirty="0">
                <a:sym typeface="Wingdings" panose="05000000000000000000" pitchFamily="2" charset="2"/>
              </a:rPr>
              <a:t>	 </a:t>
            </a:r>
            <a:r>
              <a:rPr lang="en-GB" sz="2000" noProof="0" dirty="0">
                <a:sym typeface="Wingdings" panose="05000000000000000000" pitchFamily="2" charset="2"/>
              </a:rPr>
              <a:t>Difficulties in obtaining consensual results for several species (</a:t>
            </a:r>
            <a:r>
              <a:rPr lang="en-GB" sz="2000" noProof="0" dirty="0"/>
              <a:t>Ligot et al., 2014)</a:t>
            </a:r>
          </a:p>
          <a:p>
            <a:pPr marL="0" indent="0">
              <a:buNone/>
            </a:pPr>
            <a:endParaRPr lang="en-GB" noProof="0" dirty="0"/>
          </a:p>
        </p:txBody>
      </p:sp>
      <p:pic>
        <p:nvPicPr>
          <p:cNvPr id="5" name="Image 4" descr="Une image contenant plein air, vert, plante, feuille&#10;&#10;Le contenu généré par l’IA peut être incorrect.">
            <a:extLst>
              <a:ext uri="{FF2B5EF4-FFF2-40B4-BE49-F238E27FC236}">
                <a16:creationId xmlns:a16="http://schemas.microsoft.com/office/drawing/2014/main" id="{1A3F9DA4-01B2-EA35-2F7C-0F04855C0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544" y="500774"/>
            <a:ext cx="4511139" cy="338335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56FD509-8BCF-FFEE-E6FD-9598FA307195}"/>
              </a:ext>
            </a:extLst>
          </p:cNvPr>
          <p:cNvSpPr txBox="1"/>
          <p:nvPr/>
        </p:nvSpPr>
        <p:spPr>
          <a:xfrm>
            <a:off x="704108" y="1863798"/>
            <a:ext cx="60044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GB" sz="2400" u="sng" noProof="0" dirty="0"/>
              <a:t>Leaf area density (LAD) </a:t>
            </a:r>
            <a:r>
              <a:rPr lang="en-GB" sz="2400" noProof="0" dirty="0"/>
              <a:t>:</a:t>
            </a:r>
          </a:p>
          <a:p>
            <a:pPr marL="0" indent="0" algn="ctr">
              <a:buNone/>
            </a:pPr>
            <a:r>
              <a:rPr lang="en-GB" sz="2400" noProof="0" dirty="0"/>
              <a:t>area of leaves per unit of tree crown volume (in m2/m3)</a:t>
            </a:r>
          </a:p>
        </p:txBody>
      </p:sp>
    </p:spTree>
    <p:extLst>
      <p:ext uri="{BB962C8B-B14F-4D97-AF65-F5344CB8AC3E}">
        <p14:creationId xmlns:p14="http://schemas.microsoft.com/office/powerpoint/2010/main" val="4171408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387A91-021C-68D2-6841-5574FC7E7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Objective of the study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B8D56C-32F6-F003-5BBC-ACBE09C12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1098"/>
            <a:ext cx="10515600" cy="150810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GB" noProof="0" dirty="0"/>
              <a:t>Estimation of the leaf area density LAD for 9 species/groups: </a:t>
            </a:r>
          </a:p>
          <a:p>
            <a:pPr marL="0" indent="0" algn="ctr">
              <a:buNone/>
            </a:pPr>
            <a:r>
              <a:rPr lang="en-GB" sz="2400" i="1" noProof="0" dirty="0"/>
              <a:t>Fagus sylvatica</a:t>
            </a:r>
            <a:r>
              <a:rPr lang="en-GB" sz="2400" noProof="0" dirty="0"/>
              <a:t>, </a:t>
            </a:r>
            <a:r>
              <a:rPr lang="en-GB" sz="2400" i="1" noProof="0" dirty="0"/>
              <a:t>Picea abies</a:t>
            </a:r>
            <a:r>
              <a:rPr lang="en-GB" sz="2400" noProof="0" dirty="0"/>
              <a:t>, </a:t>
            </a:r>
            <a:r>
              <a:rPr lang="en-GB" sz="2400" i="1" noProof="0" dirty="0"/>
              <a:t>Quercus sp</a:t>
            </a:r>
            <a:r>
              <a:rPr lang="en-GB" sz="2400" noProof="0" dirty="0"/>
              <a:t>., Carpinus </a:t>
            </a:r>
            <a:r>
              <a:rPr lang="en-GB" sz="2400" noProof="0" dirty="0" err="1"/>
              <a:t>betulus</a:t>
            </a:r>
            <a:r>
              <a:rPr lang="en-GB" sz="2400" noProof="0" dirty="0"/>
              <a:t>, </a:t>
            </a:r>
            <a:r>
              <a:rPr lang="en-GB" sz="2400" i="1" noProof="0" dirty="0"/>
              <a:t>Pseudotsuga </a:t>
            </a:r>
            <a:r>
              <a:rPr lang="en-GB" sz="2400" i="1" noProof="0" dirty="0" err="1"/>
              <a:t>menziesii</a:t>
            </a:r>
            <a:r>
              <a:rPr lang="en-GB" sz="2400" noProof="0" dirty="0"/>
              <a:t>, </a:t>
            </a:r>
            <a:r>
              <a:rPr lang="en-GB" sz="2400" i="1" noProof="0" dirty="0"/>
              <a:t>Pinus sylvestris</a:t>
            </a:r>
            <a:r>
              <a:rPr lang="en-GB" sz="2400" noProof="0" dirty="0"/>
              <a:t>, </a:t>
            </a:r>
            <a:r>
              <a:rPr lang="en-GB" sz="2400" i="1" noProof="0" dirty="0"/>
              <a:t>Abies alba</a:t>
            </a:r>
            <a:r>
              <a:rPr lang="en-GB" sz="2400" noProof="0" dirty="0"/>
              <a:t>, </a:t>
            </a:r>
            <a:r>
              <a:rPr lang="en-GB" sz="2400" i="1" noProof="0" dirty="0"/>
              <a:t>Larix decidua </a:t>
            </a:r>
            <a:r>
              <a:rPr lang="en-GB" sz="2400" noProof="0" dirty="0"/>
              <a:t>and ‘other species’</a:t>
            </a:r>
            <a:br>
              <a:rPr lang="en-GB" sz="2400" noProof="0" dirty="0"/>
            </a:br>
            <a:endParaRPr lang="en-GB" sz="2400" noProof="0" dirty="0"/>
          </a:p>
          <a:p>
            <a:pPr marL="457200" lvl="1" indent="0">
              <a:buNone/>
            </a:pPr>
            <a:r>
              <a:rPr lang="en-GB" i="1" noProof="0" dirty="0" err="1"/>
              <a:t>Hypotesis</a:t>
            </a:r>
            <a:r>
              <a:rPr lang="en-GB" i="1" noProof="0" dirty="0"/>
              <a:t>: LAD is greater for late successional species (or high shade tolerant species)</a:t>
            </a:r>
          </a:p>
          <a:p>
            <a:pPr marL="457200" lvl="1" indent="0">
              <a:buNone/>
            </a:pPr>
            <a:endParaRPr lang="en-GB" i="1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A025471-6F8A-0239-3EAD-EB9257EC4068}"/>
              </a:ext>
            </a:extLst>
          </p:cNvPr>
          <p:cNvSpPr txBox="1"/>
          <p:nvPr/>
        </p:nvSpPr>
        <p:spPr>
          <a:xfrm>
            <a:off x="1195449" y="4191069"/>
            <a:ext cx="456408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u="sng" noProof="0" dirty="0"/>
              <a:t>Effect of tree diameter</a:t>
            </a:r>
          </a:p>
          <a:p>
            <a:pPr algn="ctr"/>
            <a:r>
              <a:rPr lang="en-GB" i="1" dirty="0"/>
              <a:t>Hypothesis: decreasing LAD with increasing tree age (Nock et al., 2008). </a:t>
            </a:r>
          </a:p>
          <a:p>
            <a:pPr algn="ctr"/>
            <a:r>
              <a:rPr lang="en-GB" i="1" noProof="0" dirty="0"/>
              <a:t>Does it depend on the species autecology ?</a:t>
            </a:r>
            <a:r>
              <a:rPr lang="en-GB" dirty="0"/>
              <a:t> </a:t>
            </a:r>
            <a:endParaRPr lang="en-GB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61AA5F2-3A38-6CDC-EA1A-87F389B9EF4E}"/>
              </a:ext>
            </a:extLst>
          </p:cNvPr>
          <p:cNvSpPr txBox="1"/>
          <p:nvPr/>
        </p:nvSpPr>
        <p:spPr>
          <a:xfrm>
            <a:off x="6228610" y="4191069"/>
            <a:ext cx="476794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u="sng" noProof="0" dirty="0"/>
              <a:t>Effect of local competition</a:t>
            </a:r>
          </a:p>
          <a:p>
            <a:pPr algn="ctr"/>
            <a:r>
              <a:rPr lang="en-GB" i="1" noProof="0" dirty="0"/>
              <a:t>Hypothesis: suppressed trees may harbour more leaves to intercept more energies from low-energy light rays ?</a:t>
            </a:r>
          </a:p>
          <a:p>
            <a:pPr algn="ctr"/>
            <a:r>
              <a:rPr lang="en-GB" i="1" noProof="0" dirty="0"/>
              <a:t>Does it depend on the species autecology ?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28834C66-F300-23D3-A9EE-302AFA9027C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477491" y="3402490"/>
            <a:ext cx="1474519" cy="788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C0475F81-82F7-217C-5782-34C3985FA33B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6822376" y="3402490"/>
            <a:ext cx="1790205" cy="788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59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AC2C4-AC1F-DC37-1D06-45499230D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9C220-397D-C6D6-87F3-E8546D898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Global methodology</a:t>
            </a:r>
            <a:endParaRPr lang="en-GB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7A31BB8-64F1-BBAB-32BD-9B5F51119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7" r="3479"/>
          <a:stretch>
            <a:fillRect/>
          </a:stretch>
        </p:blipFill>
        <p:spPr>
          <a:xfrm>
            <a:off x="6329548" y="2943592"/>
            <a:ext cx="5024252" cy="284700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E479192-6CC4-8A23-C5C0-DAB45E20E16C}"/>
              </a:ext>
            </a:extLst>
          </p:cNvPr>
          <p:cNvSpPr txBox="1"/>
          <p:nvPr/>
        </p:nvSpPr>
        <p:spPr>
          <a:xfrm>
            <a:off x="2226623" y="1392733"/>
            <a:ext cx="8205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Calibration of a species-specific tree-level LAD model through model inversion using the SamsaraLight ray-tracing model (Courbaud et al. 2003)</a:t>
            </a:r>
          </a:p>
        </p:txBody>
      </p:sp>
      <p:pic>
        <p:nvPicPr>
          <p:cNvPr id="8" name="Image 7" descr="Une image contenant texte, diagramme, capture d’écran, carte&#10;&#10;Le contenu généré par l’IA peut être incorrect.">
            <a:extLst>
              <a:ext uri="{FF2B5EF4-FFF2-40B4-BE49-F238E27FC236}">
                <a16:creationId xmlns:a16="http://schemas.microsoft.com/office/drawing/2014/main" id="{1E9662BE-7852-4B6A-CB84-64B4D8073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883" y="2714051"/>
            <a:ext cx="4925117" cy="351794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AF12DAB-4DF4-43BB-4EA0-8D859C264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868" y="2137007"/>
            <a:ext cx="8406264" cy="460246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8A3FAB40-C22E-701D-BFBE-61145524F04C}"/>
              </a:ext>
            </a:extLst>
          </p:cNvPr>
          <p:cNvSpPr txBox="1"/>
          <p:nvPr/>
        </p:nvSpPr>
        <p:spPr>
          <a:xfrm>
            <a:off x="1447305" y="6123543"/>
            <a:ext cx="976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Bayesian approach: minimize the residuals between </a:t>
            </a:r>
            <a:r>
              <a:rPr lang="en-GB" dirty="0" err="1"/>
              <a:t>PACL</a:t>
            </a:r>
            <a:r>
              <a:rPr lang="en-GB" i="1" dirty="0" err="1"/>
              <a:t>obs</a:t>
            </a:r>
            <a:r>
              <a:rPr lang="en-GB" dirty="0"/>
              <a:t> and </a:t>
            </a:r>
            <a:r>
              <a:rPr lang="en-GB" dirty="0" err="1"/>
              <a:t>PACL</a:t>
            </a:r>
            <a:r>
              <a:rPr lang="en-GB" i="1" dirty="0" err="1"/>
              <a:t>est</a:t>
            </a:r>
            <a:r>
              <a:rPr lang="en-GB" i="1" dirty="0"/>
              <a:t> at each sensor</a:t>
            </a:r>
            <a:r>
              <a:rPr lang="en-GB" dirty="0"/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75C9AE-64C5-7C34-0133-91D478A04339}"/>
              </a:ext>
            </a:extLst>
          </p:cNvPr>
          <p:cNvSpPr/>
          <p:nvPr/>
        </p:nvSpPr>
        <p:spPr>
          <a:xfrm>
            <a:off x="10501918" y="6191410"/>
            <a:ext cx="242777" cy="233598"/>
          </a:xfrm>
          <a:prstGeom prst="rect">
            <a:avLst/>
          </a:prstGeom>
          <a:solidFill>
            <a:schemeClr val="tx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0DFC1AE-157C-18FE-4E10-8786B5FD248B}"/>
              </a:ext>
            </a:extLst>
          </p:cNvPr>
          <p:cNvSpPr txBox="1"/>
          <p:nvPr/>
        </p:nvSpPr>
        <p:spPr>
          <a:xfrm>
            <a:off x="2915391" y="6472460"/>
            <a:ext cx="7517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4 origins (</a:t>
            </a:r>
            <a:r>
              <a:rPr lang="en-GB" sz="1600" i="1" dirty="0" err="1"/>
              <a:t>UCLouvain</a:t>
            </a:r>
            <a:r>
              <a:rPr lang="en-GB" sz="1600" i="1" dirty="0"/>
              <a:t>, </a:t>
            </a:r>
            <a:r>
              <a:rPr lang="en-GB" sz="1600" i="1" dirty="0" err="1"/>
              <a:t>INRAe</a:t>
            </a:r>
            <a:r>
              <a:rPr lang="en-GB" sz="1600" i="1" dirty="0"/>
              <a:t>, Cloture, IRRES), 45 sites and 1,121 sensors</a:t>
            </a:r>
          </a:p>
        </p:txBody>
      </p:sp>
    </p:spTree>
    <p:extLst>
      <p:ext uri="{BB962C8B-B14F-4D97-AF65-F5344CB8AC3E}">
        <p14:creationId xmlns:p14="http://schemas.microsoft.com/office/powerpoint/2010/main" val="1507486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B12429-A58C-EA77-9998-651C5616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First results</a:t>
            </a:r>
          </a:p>
        </p:txBody>
      </p:sp>
      <p:pic>
        <p:nvPicPr>
          <p:cNvPr id="5" name="Image 4" descr="Une image contenant texte, diagramme, Parallèle, ligne&#10;&#10;Le contenu généré par l’IA peut être incorrect.">
            <a:extLst>
              <a:ext uri="{FF2B5EF4-FFF2-40B4-BE49-F238E27FC236}">
                <a16:creationId xmlns:a16="http://schemas.microsoft.com/office/drawing/2014/main" id="{DBF5301E-896D-594B-DBF2-400B29327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29" y="2004651"/>
            <a:ext cx="6794689" cy="485334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CEE1B72-75FF-9DAE-DC7A-D49E861AE427}"/>
              </a:ext>
            </a:extLst>
          </p:cNvPr>
          <p:cNvSpPr txBox="1"/>
          <p:nvPr/>
        </p:nvSpPr>
        <p:spPr>
          <a:xfrm>
            <a:off x="1584956" y="1490633"/>
            <a:ext cx="5070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u="sng" dirty="0"/>
              <a:t>Species-specific intercept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CFC373-6547-8F58-A5DD-935CDF922195}"/>
              </a:ext>
            </a:extLst>
          </p:cNvPr>
          <p:cNvSpPr txBox="1"/>
          <p:nvPr/>
        </p:nvSpPr>
        <p:spPr>
          <a:xfrm>
            <a:off x="8172297" y="4667768"/>
            <a:ext cx="32063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2 key points:</a:t>
            </a:r>
          </a:p>
          <a:p>
            <a:pPr marL="285750" indent="-285750">
              <a:buFontTx/>
              <a:buChar char="-"/>
            </a:pPr>
            <a:r>
              <a:rPr lang="en-GB" dirty="0"/>
              <a:t>Convergence difficulties</a:t>
            </a:r>
          </a:p>
          <a:p>
            <a:pPr marL="285750" indent="-285750">
              <a:buFontTx/>
              <a:buChar char="-"/>
            </a:pPr>
            <a:r>
              <a:rPr lang="en-GB" dirty="0"/>
              <a:t>High values of LAD, but the same magnitude between species (around LAD of 3)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F08FB9C-A392-EC9E-813B-B9BCE7B0A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480" y="1451568"/>
            <a:ext cx="4365972" cy="256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3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3C3B4-8AC4-0BC4-C687-9C95951C2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044F3C-1961-F646-C763-767928C7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First results</a:t>
            </a:r>
          </a:p>
        </p:txBody>
      </p:sp>
      <p:pic>
        <p:nvPicPr>
          <p:cNvPr id="4" name="Image 3" descr="Une image contenant texte, diagramme, Parallèle, ligne&#10;&#10;Le contenu généré par l’IA peut être incorrect.">
            <a:extLst>
              <a:ext uri="{FF2B5EF4-FFF2-40B4-BE49-F238E27FC236}">
                <a16:creationId xmlns:a16="http://schemas.microsoft.com/office/drawing/2014/main" id="{44BC56DE-EFC5-01A4-0C69-27BEF7EA5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69" y="2113807"/>
            <a:ext cx="5815545" cy="4153961"/>
          </a:xfrm>
          <a:prstGeom prst="rect">
            <a:avLst/>
          </a:prstGeom>
        </p:spPr>
      </p:pic>
      <p:pic>
        <p:nvPicPr>
          <p:cNvPr id="7" name="Image 6" descr="Une image contenant texte, diagramme, Parallèle, ligne&#10;&#10;Le contenu généré par l’IA peut être incorrect.">
            <a:extLst>
              <a:ext uri="{FF2B5EF4-FFF2-40B4-BE49-F238E27FC236}">
                <a16:creationId xmlns:a16="http://schemas.microsoft.com/office/drawing/2014/main" id="{AAEBA829-DBA2-463E-B6B5-4B30AFB0C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286" y="2113807"/>
            <a:ext cx="5815545" cy="415396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011C5DF-2D88-24C3-BE6E-F653F47DD846}"/>
              </a:ext>
            </a:extLst>
          </p:cNvPr>
          <p:cNvSpPr txBox="1"/>
          <p:nvPr/>
        </p:nvSpPr>
        <p:spPr>
          <a:xfrm>
            <a:off x="708351" y="1592766"/>
            <a:ext cx="4667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u="sng" dirty="0"/>
              <a:t>Effect of diameter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2A2159E-199F-56CE-9784-AC167837F6E8}"/>
              </a:ext>
            </a:extLst>
          </p:cNvPr>
          <p:cNvSpPr txBox="1"/>
          <p:nvPr/>
        </p:nvSpPr>
        <p:spPr>
          <a:xfrm>
            <a:off x="6979193" y="1592765"/>
            <a:ext cx="4667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u="sng" dirty="0"/>
              <a:t>Effect of competition</a:t>
            </a:r>
          </a:p>
        </p:txBody>
      </p:sp>
    </p:spTree>
    <p:extLst>
      <p:ext uri="{BB962C8B-B14F-4D97-AF65-F5344CB8AC3E}">
        <p14:creationId xmlns:p14="http://schemas.microsoft.com/office/powerpoint/2010/main" val="2652880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8AF9D3-23CF-2BBF-3CB3-F229E038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methodology to improve</a:t>
            </a:r>
            <a:endParaRPr lang="en-GB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551B64-CDBC-71B5-1658-AD1CAFDBE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There is still problem of convergence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Standardize predictors ? Covariance between intercept and slope ? More informative priors 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Asking a statistician to participate to the study</a:t>
            </a:r>
          </a:p>
          <a:p>
            <a:endParaRPr lang="en-US" b="1" noProof="0" dirty="0"/>
          </a:p>
          <a:p>
            <a:r>
              <a:rPr lang="en-US" b="1" dirty="0"/>
              <a:t>We could imagine</a:t>
            </a:r>
            <a:r>
              <a:rPr lang="en-US" dirty="0"/>
              <a:t> </a:t>
            </a:r>
            <a:r>
              <a:rPr lang="en-US" b="1" dirty="0"/>
              <a:t>another index of competition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BAH is an absolute index of competition, is it ecologically relevant ? Apply a transformation effect, such as a plateau function 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DBH/DG, as a social status index, which is a stand-relative index of competition</a:t>
            </a:r>
          </a:p>
          <a:p>
            <a:pPr marL="0" indent="0">
              <a:buNone/>
            </a:pPr>
            <a:endParaRPr lang="en-US" b="1" noProof="0" dirty="0"/>
          </a:p>
          <a:p>
            <a:r>
              <a:rPr lang="en-US" b="1" dirty="0"/>
              <a:t>The model may be highly sensitive to the trees we consider in the likelihood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noProof="0" dirty="0"/>
              <a:t>Consider only trees in a given radius around the sensor for the computation of the likelihood (e.g. 15m) 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May question the relevance of a preliminary study concerning the shading radius of trees 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4488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813A9-4FEF-98E7-4C08-5F04D5DDE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89FD5F-1F90-CE91-B661-1C32D87D0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Limits</a:t>
            </a:r>
            <a:endParaRPr lang="en-GB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DC650E-5BC2-1AC4-9910-54821D900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 may miss some important environmental factors</a:t>
            </a:r>
          </a:p>
          <a:p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i="1" noProof="0" dirty="0"/>
              <a:t>Effect </a:t>
            </a:r>
            <a:r>
              <a:rPr lang="en-US" i="1" dirty="0"/>
              <a:t>of climate</a:t>
            </a:r>
            <a:r>
              <a:rPr lang="en-US" dirty="0"/>
              <a:t>: leaf area density may decrease with increasing hydraulic constraints (site-specific aridity or high local competition)</a:t>
            </a:r>
            <a:endParaRPr lang="en-GB" dirty="0"/>
          </a:p>
          <a:p>
            <a:pPr lvl="2">
              <a:buFont typeface="Wingdings" panose="05000000000000000000" pitchFamily="2" charset="2"/>
              <a:buChar char="è"/>
            </a:pPr>
            <a:r>
              <a:rPr lang="en-GB" sz="1600" dirty="0">
                <a:sym typeface="Wingdings" panose="05000000000000000000" pitchFamily="2" charset="2"/>
              </a:rPr>
              <a:t>Too small intra-origins variability in climatic conditions, climate is considered in the origins and site random effects</a:t>
            </a:r>
          </a:p>
          <a:p>
            <a:pPr lvl="1">
              <a:buFont typeface="Wingdings" panose="05000000000000000000" pitchFamily="2" charset="2"/>
              <a:buChar char="è"/>
            </a:pPr>
            <a:endParaRPr lang="en-GB" sz="2000" dirty="0">
              <a:sym typeface="Wingdings" panose="05000000000000000000" pitchFamily="2" charset="2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i="1" dirty="0"/>
              <a:t>Effect of sanitary health</a:t>
            </a:r>
            <a:r>
              <a:rPr lang="en-US" dirty="0"/>
              <a:t>: for </a:t>
            </a:r>
            <a:r>
              <a:rPr lang="en-US" dirty="0" err="1"/>
              <a:t>exemple</a:t>
            </a:r>
            <a:r>
              <a:rPr lang="en-US" dirty="0"/>
              <a:t>, bark beetles or drought consequences may greatly influence the LAD</a:t>
            </a:r>
          </a:p>
          <a:p>
            <a:pPr marL="457200" lvl="1" indent="0">
              <a:buNone/>
            </a:pPr>
            <a:r>
              <a:rPr lang="en-US" sz="1600" dirty="0">
                <a:sym typeface="Wingdings" panose="05000000000000000000" pitchFamily="2" charset="2"/>
              </a:rPr>
              <a:t>	 But we do not have such information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2940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8F641-D4F0-77D8-3CBC-665449BA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5458E5-BAFC-36C7-43CA-EE7171D2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Perspectives</a:t>
            </a:r>
            <a:endParaRPr lang="en-GB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495ACA-F5CA-828C-8890-25F57A2E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Ecological mechanisms that could underlie the differences between species</a:t>
            </a:r>
            <a:r>
              <a:rPr lang="en-US" sz="2400" dirty="0"/>
              <a:t>:</a:t>
            </a:r>
            <a:r>
              <a:rPr lang="en-US" sz="2400" b="1" dirty="0"/>
              <a:t> </a:t>
            </a:r>
            <a:r>
              <a:rPr lang="en-US" sz="2400" dirty="0"/>
              <a:t>Do species with different shade tolerance have different leaf area densities? Do they react differently to competition?</a:t>
            </a:r>
          </a:p>
          <a:p>
            <a:endParaRPr lang="en-US" dirty="0"/>
          </a:p>
          <a:p>
            <a:r>
              <a:rPr lang="en-US" sz="2400" b="1" dirty="0"/>
              <a:t>Model comparison</a:t>
            </a:r>
            <a:r>
              <a:rPr lang="en-US" sz="2400" dirty="0"/>
              <a:t>: Species-specific models ? Effect of </a:t>
            </a:r>
            <a:r>
              <a:rPr lang="en-US" sz="2400" dirty="0" err="1"/>
              <a:t>dbh</a:t>
            </a:r>
            <a:r>
              <a:rPr lang="en-US" sz="2400" dirty="0"/>
              <a:t> and competition ? Different index of competition ?</a:t>
            </a:r>
          </a:p>
        </p:txBody>
      </p:sp>
    </p:spTree>
    <p:extLst>
      <p:ext uri="{BB962C8B-B14F-4D97-AF65-F5344CB8AC3E}">
        <p14:creationId xmlns:p14="http://schemas.microsoft.com/office/powerpoint/2010/main" val="3416936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75E80A-95A3-62B5-6BAA-AC8F1AE3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Modalités</a:t>
            </a:r>
            <a:r>
              <a:rPr lang="en-GB" noProof="0" dirty="0"/>
              <a:t> de la collaboration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957DC8-FD2F-2547-6CCF-EDFF4081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noProof="0" dirty="0"/>
              <a:t>2 next weeks (13 and 20 October): valorisation of the SamsaRaLight R package</a:t>
            </a:r>
            <a:endParaRPr lang="en-GB" sz="2400" dirty="0"/>
          </a:p>
          <a:p>
            <a:endParaRPr lang="en-GB" sz="2400" noProof="0" dirty="0"/>
          </a:p>
          <a:p>
            <a:r>
              <a:rPr lang="en-GB" sz="2400" dirty="0" err="1"/>
              <a:t>Reprendre</a:t>
            </a:r>
            <a:r>
              <a:rPr lang="en-GB" sz="2400" dirty="0"/>
              <a:t> </a:t>
            </a:r>
            <a:r>
              <a:rPr lang="en-GB" sz="2400" dirty="0" err="1"/>
              <a:t>l’étude</a:t>
            </a:r>
            <a:r>
              <a:rPr lang="en-GB" sz="2400" dirty="0"/>
              <a:t> </a:t>
            </a:r>
            <a:r>
              <a:rPr lang="en-GB" sz="2400" dirty="0" err="1"/>
              <a:t>en</a:t>
            </a:r>
            <a:r>
              <a:rPr lang="en-GB" sz="2400" dirty="0"/>
              <a:t> Novembre/</a:t>
            </a:r>
            <a:r>
              <a:rPr lang="en-GB" sz="2400" dirty="0" err="1"/>
              <a:t>Décembre</a:t>
            </a:r>
            <a:r>
              <a:rPr lang="en-GB" sz="2400" dirty="0"/>
              <a:t> 2025:</a:t>
            </a:r>
          </a:p>
          <a:p>
            <a:pPr lvl="1"/>
            <a:r>
              <a:rPr lang="en-GB" noProof="0" dirty="0"/>
              <a:t>Fin Novembre/Début </a:t>
            </a:r>
            <a:r>
              <a:rPr lang="en-GB" noProof="0" dirty="0" err="1"/>
              <a:t>décembre</a:t>
            </a:r>
            <a:r>
              <a:rPr lang="en-GB" noProof="0" dirty="0"/>
              <a:t> = </a:t>
            </a:r>
            <a:r>
              <a:rPr lang="en-GB" b="1" noProof="0" dirty="0"/>
              <a:t>organiser </a:t>
            </a:r>
            <a:r>
              <a:rPr lang="en-GB" b="1" noProof="0" dirty="0" err="1"/>
              <a:t>une</a:t>
            </a:r>
            <a:r>
              <a:rPr lang="en-GB" b="1" noProof="0" dirty="0"/>
              <a:t> deuxième </a:t>
            </a:r>
            <a:r>
              <a:rPr lang="en-GB" b="1" noProof="0" dirty="0" err="1"/>
              <a:t>réunion</a:t>
            </a:r>
            <a:r>
              <a:rPr lang="en-GB" b="1" noProof="0" dirty="0"/>
              <a:t> </a:t>
            </a:r>
            <a:r>
              <a:rPr lang="en-GB" noProof="0" dirty="0"/>
              <a:t>avec </a:t>
            </a:r>
            <a:r>
              <a:rPr lang="en-GB" noProof="0" dirty="0" err="1"/>
              <a:t>vous</a:t>
            </a:r>
            <a:r>
              <a:rPr lang="en-GB" noProof="0" dirty="0"/>
              <a:t> pour </a:t>
            </a:r>
            <a:r>
              <a:rPr lang="en-GB" noProof="0" dirty="0" err="1"/>
              <a:t>vous</a:t>
            </a:r>
            <a:r>
              <a:rPr lang="en-GB" noProof="0" dirty="0"/>
              <a:t> presenter les </a:t>
            </a:r>
            <a:r>
              <a:rPr lang="en-GB" noProof="0" dirty="0" err="1"/>
              <a:t>résultats</a:t>
            </a:r>
            <a:r>
              <a:rPr lang="en-GB" noProof="0" dirty="0"/>
              <a:t> et </a:t>
            </a:r>
            <a:r>
              <a:rPr lang="en-GB" noProof="0" dirty="0" err="1"/>
              <a:t>l’orientation</a:t>
            </a:r>
            <a:r>
              <a:rPr lang="en-GB" noProof="0" dirty="0"/>
              <a:t> du papier</a:t>
            </a:r>
          </a:p>
          <a:p>
            <a:pPr lvl="1"/>
            <a:r>
              <a:rPr lang="en-GB" dirty="0"/>
              <a:t>Fin </a:t>
            </a:r>
            <a:r>
              <a:rPr lang="en-GB" dirty="0" err="1"/>
              <a:t>décembre</a:t>
            </a:r>
            <a:r>
              <a:rPr lang="en-GB" dirty="0"/>
              <a:t>, </a:t>
            </a:r>
            <a:r>
              <a:rPr lang="en-GB" dirty="0" err="1"/>
              <a:t>avant</a:t>
            </a:r>
            <a:r>
              <a:rPr lang="en-GB" dirty="0"/>
              <a:t> les vacances de fin </a:t>
            </a:r>
            <a:r>
              <a:rPr lang="en-GB" dirty="0" err="1"/>
              <a:t>d’année</a:t>
            </a:r>
            <a:r>
              <a:rPr lang="en-GB" dirty="0"/>
              <a:t> =  </a:t>
            </a:r>
            <a:r>
              <a:rPr lang="en-GB" b="1" dirty="0" err="1"/>
              <a:t>envoyer</a:t>
            </a:r>
            <a:r>
              <a:rPr lang="en-GB" b="1" dirty="0"/>
              <a:t> un draft V1 du papier</a:t>
            </a:r>
          </a:p>
          <a:p>
            <a:pPr lvl="1"/>
            <a:r>
              <a:rPr lang="en-GB" dirty="0"/>
              <a:t>En </a:t>
            </a:r>
            <a:r>
              <a:rPr lang="en-GB" dirty="0" err="1"/>
              <a:t>vous</a:t>
            </a:r>
            <a:r>
              <a:rPr lang="en-GB" dirty="0"/>
              <a:t> </a:t>
            </a:r>
            <a:r>
              <a:rPr lang="en-GB" dirty="0" err="1"/>
              <a:t>laissant</a:t>
            </a:r>
            <a:r>
              <a:rPr lang="en-GB" dirty="0"/>
              <a:t> un gros </a:t>
            </a:r>
            <a:r>
              <a:rPr lang="en-GB" dirty="0" err="1"/>
              <a:t>mois</a:t>
            </a:r>
            <a:r>
              <a:rPr lang="en-GB" dirty="0"/>
              <a:t> pour faire des retours deadline </a:t>
            </a:r>
            <a:r>
              <a:rPr lang="en-GB" dirty="0" err="1"/>
              <a:t>en</a:t>
            </a:r>
            <a:r>
              <a:rPr lang="en-GB" dirty="0"/>
              <a:t> début Février = </a:t>
            </a:r>
            <a:r>
              <a:rPr lang="en-GB" b="1" dirty="0"/>
              <a:t>organiser </a:t>
            </a:r>
            <a:r>
              <a:rPr lang="en-GB" b="1" dirty="0" err="1"/>
              <a:t>une</a:t>
            </a:r>
            <a:r>
              <a:rPr lang="en-GB" b="1" dirty="0"/>
              <a:t> </a:t>
            </a:r>
            <a:r>
              <a:rPr lang="en-GB" b="1" dirty="0" err="1"/>
              <a:t>troisième</a:t>
            </a:r>
            <a:r>
              <a:rPr lang="en-GB" b="1" dirty="0"/>
              <a:t> reunion</a:t>
            </a:r>
            <a:r>
              <a:rPr lang="en-GB" dirty="0"/>
              <a:t> pour </a:t>
            </a:r>
            <a:r>
              <a:rPr lang="en-GB" dirty="0" err="1"/>
              <a:t>discuter</a:t>
            </a:r>
            <a:r>
              <a:rPr lang="en-GB" dirty="0"/>
              <a:t> de </a:t>
            </a:r>
            <a:r>
              <a:rPr lang="en-GB" dirty="0" err="1"/>
              <a:t>vos</a:t>
            </a:r>
            <a:r>
              <a:rPr lang="en-GB" dirty="0"/>
              <a:t> retours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908102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733</Words>
  <Application>Microsoft Office PowerPoint</Application>
  <PresentationFormat>Grand écran</PresentationFormat>
  <Paragraphs>74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Wingdings</vt:lpstr>
      <vt:lpstr>Thème Office</vt:lpstr>
      <vt:lpstr>Calibration du  leaf area density LAD</vt:lpstr>
      <vt:lpstr>Motivation of the study</vt:lpstr>
      <vt:lpstr>Objective of the study</vt:lpstr>
      <vt:lpstr>Global methodology</vt:lpstr>
      <vt:lpstr>First results</vt:lpstr>
      <vt:lpstr>First results</vt:lpstr>
      <vt:lpstr>A methodology to improve</vt:lpstr>
      <vt:lpstr>Limits</vt:lpstr>
      <vt:lpstr>Perspectives</vt:lpstr>
      <vt:lpstr>Modalités de la collaboration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Beauchamp Nathéo</dc:creator>
  <cp:lastModifiedBy>Beauchamp Nathéo</cp:lastModifiedBy>
  <cp:revision>63</cp:revision>
  <dcterms:created xsi:type="dcterms:W3CDTF">2025-10-13T08:46:58Z</dcterms:created>
  <dcterms:modified xsi:type="dcterms:W3CDTF">2025-10-13T15:22:08Z</dcterms:modified>
</cp:coreProperties>
</file>